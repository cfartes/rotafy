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Nexus Rotafy Painel web para gestão e atendimento Android para motorista e guia Bilhete individual para o passageiro Apresentação do sistema · Edição 2026.10 · 22/10/2026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Planejar → vender → embarcar → concluir → analisar Rotas e pacotes reutilizáveis reduzem o recadastro. Reservas conectam famílias, lugares e deslocamentos. QR e manifestos ligam o atendimento à equipe na estrada. Chegadas e relatórios dão visibilidade ao gestor. A operação é validada por empresa, usuário, veículo e trecho.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Uma plataforma compartilhada, com operação segregada. Cadastros, viagens, reservas e históricos pertencem à empresa. Acesso definido pelo identificador da empresa e pelo perfil do usuário. Um profissional de várias empresas possui um cadastro em cada uma. Nexus administra empresas, planos e configurações da plataforma. Guias e motoristas acessam somente os deslocamentos atribuídos.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cadastro inicial orienta a experiência da empresa. Turismo: viagens simples, transfers e pacotes com vários destinos. Regular: viagens simples, Rotas, frota, reservas e embarque. Os menus turísticos ficam ocultos no perfil Regular. Perfil operacional e plano comercial são escolhas independentes. Uma experiência organizada para cada tipo de operação.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Administrador, atendente, motorista e guia. Cadastro, ativação e suspensão de colaboradores. Convite por e-mail, WhatsApp ou pelos dois canais. Link de 24 horas para definir a própria senha. Recuperação de acesso e registro de atividades. Motorista e guia compartilham os recursos operacionais; o guia é opcional.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Capacidade e equipe conectadas ao planejamento. Cadastro de veículo, placa e quantidade de lugares. Vários veículos na mesma viagem ou deslocamento. Mais de um motorista e guia podem acompanhar o mesmo veículo. Conflitos de horários e capacidade verificados ao salvar. A distribuição considera quantidade de lugares; não há escolha de poltrona numerada.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Cidades, endereços, paradas e duração estimada. UF e cidade para origem e destino. Paradas ordenadas de embarque, desembarque ou ambos. Somente ida ou ida e volta, com sugestão de retorno invertido. Navegação abre o Google Maps externo. Duração manual. Atualizar uma Rota não altera automaticamente viagens já criadas.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Dois formatos para simplificar o roteiro. Passeios: cada dia retorna à mesma cidade-base. Sequência: várias cidades, com permanência e dias livres. Modelo com dias relativos; datas reais são definidas na saída. Venda do pacote completo, com retorno incluído. Exemplos: Maceió ↔ Maragogi / Gunga; ou Maceió → Fortaleza → Natal → Maceió.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Rota ou pacote + data + horários + veículos + equipe. Viagem simples com trecho único ou ida e volta. Saída de pacote com todas as etapas e chegadas previstas. Troca de veículo e equipe entre deslocamentos do roteiro. Filtros de situação, edição protegida, duplicação e cancelamento. A saída preserva sua versão de percurso, preço e capacidade.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responsável, um telefone e vários passageiros. Menu Vender bilhete, sem abrir o cadastro da viagem. Disponibilidade por segmento e sugestão de veículo para o grupo. Bloqueios de 15 minutos, confirmação, cancelamento e realocação. Hotel ou endereço de embarque disponível para motorista e guia. CPF conforme roteiro e exceções; recebimento registrado manualmente como PAGO.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mesmo bilhete em todos os trechos contratados. Página privada com etapas, pontos, horários e veículos. Impressão/PDF, download do QR e compartilhamento do link. Envio do link pelo WhatsApp ao telefone da reserva. Reemissão e revogação para todos os trechos do passageiro. A leitura identifica o passageiro; o operador confirma o embarque.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WhatsApp e e-mail aproximam sua equipe dos clientes. Confirmação, cancelamento e registro de pagamento por WhatsApp. Conversas, respostas e anexos diretamente no painel da empresa. Menu numerado personalizado com reserva, veículo e embarque. Atendimento humano com pausa das respostas automáticas. O administrador conecta o número da empresa por QR Code no próprio painel; cada empresa mantém sua sessão exclusiva.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viagem na mão de quem executa a operação. Viagens atribuídas e agenda dos próximos sete dias. QR pela câmera, lista e filtros de passageiros. Iniciar viagem, desembarcar todos e registrar chegada. Login biométrico opcional em aparelhos compatíveis. APK por empresa; no perfil operacional, guia não é obrigatório.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de passageiros disponível durante o percurso. Prepare a lista do veículo antes de sair. Registre embarques e desembarques mesmo sem conexão. Sincronize os registros ao recuperar a internet. Inicie e finalize o deslocamento com conexão disponível. Dados locais pendentes não equivalem a confirmação no sistema.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Finalização consultável por veículo e trecho. Saída, chegada, responsável e horários registrados. GPS pontual: coordenadas, precisão e horário da captura. Link para consultar o ponto da chegada no Maps. Conclusão geral após todos os veículos e etapas previstos. O registro da chegada fica disponível nos detalhes da viagem.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Período, situação, veículo e viagem em uma visão integrada. Deslocamentos diários e viagens comerciais iniciadas. Ocupação máxima confirmada por veículo/deslocamento. Valores confirmados, PAGO, ticket médio e produtos vendidos. Baixa ocupação, presença, franquia e exportação CSV. Valores nominais e marcação manual; não representam conciliação bancária, fluxo de caixa ou lucro.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Empresas, planos e assinaturas em um só painel. Basic, Professional, Enterprise e planos adicionais configuráveis. Teste inicial, setup separado e mensalidade após cada ciclo de 30 dias, com confirmação automática por link. Uma viagem simples = uma unidade; pacote = destinos comerciais. Cancelamento estorna o consumo no ciclo original. Quatro destinos = quatro unidades, sem acréscimo por retorno, paradas ou quantidade de veículos.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roteiro simples para colocar a equipe em funcionamento. 1 · Empresa, plano, equipe e veículo cadastrados. 2 · Rota criada e viagem agendada com equipe atribuída. 3 · Reserva confirmada, PAGO conferido e bilhete enviado. 4 · Manifesto preparado, embarque realizado e chegada registrada. O manual traz instruções por perfil, exemplos, checklists e solução de problemas.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preparação do roteiro à análise dos resultados. Reutilize rotas e pacotes para organizar novas saídas. Centralize passageiros, reservas e disponibilidade de lugares. Conecte atendimento, motorista e guia na mesma operação. Acompanhe ocupação, vendas e execução das viagens. Uma visão compartilhada para tomar decisões com mais clareza.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Informações úteis no próprio WhatsApp. Qualquer texto abre um menu com saudação personalizada. O passageiro consulta seus bilhetes, reserva, veículo e embarque. A equipe assume a conversa quando necessário. O atendimento automático encerra após um minuto de inatividade. A consulta utiliza o telefone vinculado à reserva.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Ative o envio automático antes do primeiro embarque. Reservas confirmadas entram na fila até 24 horas antes. Um bilhete por passageiro, válido para todos os trechos contratados. Intervalo mínimo de três minutos entre os envios automáticos. O envio manual permanece disponível para o atendimento. A entrada na fila não garante o horário exato de entrega; acompanhe os envios.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Rastreamento e avisos configuráveis pela empresa. Posições do celular responsável coletadas a cada cinco minutos. Mapa com última posição e trilha das amostras durante o trecho. Aviso de proximidade para embarques confirmados no mapa. Lembrete de saída na ida e na volta pelo WhatsApp. Localização aproximada; depende de conexão, GPS e permissões.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Contrato, valores e vencimentos no mesmo ambiente. Leitura e download do contrato antes do aceite por confirmação de e-mail. Plano e valores preservados no documento; mudanças exigem novo aceite. Financeiro com valor previsto, próximo vencimento e situação. Link de pagamento e confirmação automática após aprovação. O setup é separado; a mensalidade é cobrada ao final do ciclo de 30 dias.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Módulos adequados ao que a empresa precisa. WhatsApp e bilhetes podem complementar um sistema de vendas parceiro. Dados sincronizados apoiam a comunicação e a operação da viagem. Motorista e guia registram embarque e desembarque no Android. Permissões por empresa e credenciais de integração controladas. O conjunto de módulos depende da configuração da empresa.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NPS diferencia o retorno para promotores, neutros e detratores. Avaliações negativas chegam à equipe de qualidade no app; os relatórios preservam as notas e os comentários.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Planejamento, atendimento e equipe conectados. Conheça o sistema: rotafy.nexusdataanalytics.tech Manual e downloads: /ajuda Central com HTML, PDF e apresentação editável Nexus Data Analytics · Edição 2026.10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3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FFFFF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FFFFFF"/>
                </a:solidFill>
                <a:latin typeface="Arial"/>
              </a:defRPr>
            </a:pPr>
            <a:r>
              <a:t>01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54D6CB"/>
                </a:solidFill>
                <a:latin typeface="Arial"/>
              </a:defRPr>
            </a:pPr>
            <a:r>
              <a:t>NEXUS · GESTÃO DE TRANSPORTE</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FFFFFF"/>
                </a:solidFill>
                <a:latin typeface="Arial"/>
              </a:defRPr>
            </a:pPr>
            <a:r>
              <a:t>Sua operação,</a:t>
            </a:r>
          </a:p>
          <a:p>
            <a:pPr>
              <a:spcAft>
                <a:spcPts val="1100"/>
              </a:spcAft>
              <a:defRPr sz="3600" b="1">
                <a:solidFill>
                  <a:srgbClr val="FFFFFF"/>
                </a:solidFill>
                <a:latin typeface="Arial"/>
              </a:defRPr>
            </a:pPr>
            <a:r>
              <a:t>conectada a cada viagem.</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C3E4EA"/>
                </a:solidFill>
                <a:latin typeface="Arial"/>
              </a:defRPr>
            </a:pPr>
            <a:r>
              <a:t>Nexus Rotafy</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FFFFFF"/>
                </a:solidFill>
                <a:latin typeface="Arial"/>
              </a:defRPr>
            </a:pPr>
            <a:r>
              <a:t>• Painel web para gestão e atendimento</a:t>
            </a:r>
          </a:p>
          <a:p>
            <a:pPr>
              <a:spcAft>
                <a:spcPts val="1100"/>
              </a:spcAft>
              <a:defRPr sz="1800" b="0">
                <a:solidFill>
                  <a:srgbClr val="FFFFFF"/>
                </a:solidFill>
                <a:latin typeface="Arial"/>
              </a:defRPr>
            </a:pPr>
            <a:r>
              <a:t>• Android para motorista e guia</a:t>
            </a:r>
          </a:p>
          <a:p>
            <a:pPr>
              <a:spcAft>
                <a:spcPts val="1100"/>
              </a:spcAft>
              <a:defRPr sz="1800" b="0">
                <a:solidFill>
                  <a:srgbClr val="FFFFFF"/>
                </a:solidFill>
                <a:latin typeface="Arial"/>
              </a:defRPr>
            </a:pPr>
            <a:r>
              <a:t>• Bilhete individual para o passageiro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C3E4EA"/>
                </a:solidFill>
                <a:latin typeface="Arial"/>
              </a:defRPr>
            </a:pPr>
            <a:r>
              <a:t>Apresentação do sistema · Edição 2026.10 · 22/10/2026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02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DA VENDA À CHEGADA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Uma jornada operacional completa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Planejar → vender → embarcar → concluir → analisar</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Rotas e pacotes reutilizáveis reduzem o recadastro.</a:t>
            </a:r>
          </a:p>
          <a:p>
            <a:pPr>
              <a:spcAft>
                <a:spcPts val="1100"/>
              </a:spcAft>
              <a:defRPr sz="1800" b="0">
                <a:solidFill>
                  <a:srgbClr val="0B253F"/>
                </a:solidFill>
                <a:latin typeface="Arial"/>
              </a:defRPr>
            </a:pPr>
            <a:r>
              <a:t>• Reservas conectam famílias, lugares e deslocamentos.</a:t>
            </a:r>
          </a:p>
          <a:p>
            <a:pPr>
              <a:spcAft>
                <a:spcPts val="1100"/>
              </a:spcAft>
              <a:defRPr sz="1800" b="0">
                <a:solidFill>
                  <a:srgbClr val="0B253F"/>
                </a:solidFill>
                <a:latin typeface="Arial"/>
              </a:defRPr>
            </a:pPr>
            <a:r>
              <a:t>• QR e manifestos ligam o atendimento à equipe na estrada.</a:t>
            </a:r>
          </a:p>
          <a:p>
            <a:pPr>
              <a:spcAft>
                <a:spcPts val="1100"/>
              </a:spcAft>
              <a:defRPr sz="1800" b="0">
                <a:solidFill>
                  <a:srgbClr val="0B253F"/>
                </a:solidFill>
                <a:latin typeface="Arial"/>
              </a:defRPr>
            </a:pPr>
            <a:r>
              <a:t>• Chegadas e relatórios dão visibilidade ao gestor.</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operação é validada por empresa, usuário, veículo e trecho.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03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SAAS MULTIEMPRESA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Cada empresa tem seu espaço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Uma plataforma compartilhada, com operação segregada.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Cadastros, viagens, reservas e históricos pertencem à empresa.</a:t>
            </a:r>
          </a:p>
          <a:p>
            <a:pPr>
              <a:spcAft>
                <a:spcPts val="1100"/>
              </a:spcAft>
              <a:defRPr sz="1800" b="0">
                <a:solidFill>
                  <a:srgbClr val="0B253F"/>
                </a:solidFill>
                <a:latin typeface="Arial"/>
              </a:defRPr>
            </a:pPr>
            <a:r>
              <a:t>• Acesso definido pelo identificador da empresa e pelo perfil do usuário.</a:t>
            </a:r>
          </a:p>
          <a:p>
            <a:pPr>
              <a:spcAft>
                <a:spcPts val="1100"/>
              </a:spcAft>
              <a:defRPr sz="1800" b="0">
                <a:solidFill>
                  <a:srgbClr val="0B253F"/>
                </a:solidFill>
                <a:latin typeface="Arial"/>
              </a:defRPr>
            </a:pPr>
            <a:r>
              <a:t>• Um profissional de várias empresas possui um cadastro em cada uma.</a:t>
            </a:r>
          </a:p>
          <a:p>
            <a:pPr>
              <a:spcAft>
                <a:spcPts val="1100"/>
              </a:spcAft>
              <a:defRPr sz="1800" b="0">
                <a:solidFill>
                  <a:srgbClr val="0B253F"/>
                </a:solidFill>
                <a:latin typeface="Arial"/>
              </a:defRPr>
            </a:pPr>
            <a:r>
              <a:t>• Nexus administra empresas, planos e configurações da plataforma.</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Guias e motoristas acessam somente os deslocamentos atribuídos.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04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DOIS PERFIS OPERACIONAIS</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Turismo e transporte regular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O cadastro inicial orienta a experiência da empresa.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Turismo: viagens simples, transfers e pacotes com vários destinos.</a:t>
            </a:r>
          </a:p>
          <a:p>
            <a:pPr>
              <a:spcAft>
                <a:spcPts val="1100"/>
              </a:spcAft>
              <a:defRPr sz="1800" b="0">
                <a:solidFill>
                  <a:srgbClr val="0B253F"/>
                </a:solidFill>
                <a:latin typeface="Arial"/>
              </a:defRPr>
            </a:pPr>
            <a:r>
              <a:t>• Regular: viagens simples, Rotas, frota, reservas e embarque.</a:t>
            </a:r>
          </a:p>
          <a:p>
            <a:pPr>
              <a:spcAft>
                <a:spcPts val="1100"/>
              </a:spcAft>
              <a:defRPr sz="1800" b="0">
                <a:solidFill>
                  <a:srgbClr val="0B253F"/>
                </a:solidFill>
                <a:latin typeface="Arial"/>
              </a:defRPr>
            </a:pPr>
            <a:r>
              <a:t>• Os menus turísticos ficam ocultos no perfil Regular.</a:t>
            </a:r>
          </a:p>
          <a:p>
            <a:pPr>
              <a:spcAft>
                <a:spcPts val="1100"/>
              </a:spcAft>
              <a:defRPr sz="1800" b="0">
                <a:solidFill>
                  <a:srgbClr val="0B253F"/>
                </a:solidFill>
                <a:latin typeface="Arial"/>
              </a:defRPr>
            </a:pPr>
            <a:r>
              <a:t>• Perfil operacional e plano comercial são escolhas independentes.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Uma experiência organizada para cada tipo de operação.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05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EQUIPE E ACESSO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Cada pessoa, com seu papel</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Administrador, atendente, motorista e guia.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Cadastro, ativação e suspensão de colaboradores.</a:t>
            </a:r>
          </a:p>
          <a:p>
            <a:pPr>
              <a:spcAft>
                <a:spcPts val="1100"/>
              </a:spcAft>
              <a:defRPr sz="1800" b="0">
                <a:solidFill>
                  <a:srgbClr val="0B253F"/>
                </a:solidFill>
                <a:latin typeface="Arial"/>
              </a:defRPr>
            </a:pPr>
            <a:r>
              <a:t>• Convite por e-mail, WhatsApp ou pelos dois canais.</a:t>
            </a:r>
          </a:p>
          <a:p>
            <a:pPr>
              <a:spcAft>
                <a:spcPts val="1100"/>
              </a:spcAft>
              <a:defRPr sz="1800" b="0">
                <a:solidFill>
                  <a:srgbClr val="0B253F"/>
                </a:solidFill>
                <a:latin typeface="Arial"/>
              </a:defRPr>
            </a:pPr>
            <a:r>
              <a:t>• Link de 24 horas para definir a própria senha.</a:t>
            </a:r>
          </a:p>
          <a:p>
            <a:pPr>
              <a:spcAft>
                <a:spcPts val="1100"/>
              </a:spcAft>
              <a:defRPr sz="1800" b="0">
                <a:solidFill>
                  <a:srgbClr val="0B253F"/>
                </a:solidFill>
                <a:latin typeface="Arial"/>
              </a:defRPr>
            </a:pPr>
            <a:r>
              <a:t>• Recuperação de acesso e registro de atividades.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Motorista e guia compartilham os recursos operacionais; o guia é opcional.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06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FROTA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Veículos prontos para alocar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Capacidade e equipe conectadas ao planejamento.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Cadastro de veículo, placa e quantidade de lugares.</a:t>
            </a:r>
          </a:p>
          <a:p>
            <a:pPr>
              <a:spcAft>
                <a:spcPts val="1100"/>
              </a:spcAft>
              <a:defRPr sz="1800" b="0">
                <a:solidFill>
                  <a:srgbClr val="0B253F"/>
                </a:solidFill>
                <a:latin typeface="Arial"/>
              </a:defRPr>
            </a:pPr>
            <a:r>
              <a:t>• Vários veículos na mesma viagem ou deslocamento.</a:t>
            </a:r>
          </a:p>
          <a:p>
            <a:pPr>
              <a:spcAft>
                <a:spcPts val="1100"/>
              </a:spcAft>
              <a:defRPr sz="1800" b="0">
                <a:solidFill>
                  <a:srgbClr val="0B253F"/>
                </a:solidFill>
                <a:latin typeface="Arial"/>
              </a:defRPr>
            </a:pPr>
            <a:r>
              <a:t>• Mais de um motorista e guia podem acompanhar o mesmo veículo.</a:t>
            </a:r>
          </a:p>
          <a:p>
            <a:pPr>
              <a:spcAft>
                <a:spcPts val="1100"/>
              </a:spcAft>
              <a:defRPr sz="1800" b="0">
                <a:solidFill>
                  <a:srgbClr val="0B253F"/>
                </a:solidFill>
                <a:latin typeface="Arial"/>
              </a:defRPr>
            </a:pPr>
            <a:r>
              <a:t>• Conflitos de horários e capacidade verificados ao salvar.</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distribuição considera quantidade de lugares; não há escolha de poltrona numerada.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07 / 26</a:t>
            </a:r>
          </a:p>
        </p:txBody>
      </p:sp>
      <p:sp>
        <p:nvSpPr>
          <p:cNvPr id="5" name="TextBox 4"/>
          <p:cNvSpPr txBox="1"/>
          <p:nvPr/>
        </p:nvSpPr>
        <p:spPr>
          <a:xfrm>
            <a:off x="594360" y="914400"/>
            <a:ext cx="731520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ROTAS REUTILIZÁVEIS</a:t>
            </a:r>
          </a:p>
        </p:txBody>
      </p:sp>
      <p:sp>
        <p:nvSpPr>
          <p:cNvPr id="6" name="TextBox 5"/>
          <p:cNvSpPr txBox="1"/>
          <p:nvPr/>
        </p:nvSpPr>
        <p:spPr>
          <a:xfrm>
            <a:off x="594360" y="1389888"/>
            <a:ext cx="7315200" cy="1170432"/>
          </a:xfrm>
          <a:prstGeom prst="rect">
            <a:avLst/>
          </a:prstGeom>
          <a:noFill/>
        </p:spPr>
        <p:txBody>
          <a:bodyPr wrap="square" lIns="18288" rIns="18288" tIns="18288" bIns="18288">
            <a:spAutoFit/>
          </a:bodyPr>
          <a:lstStyle/>
          <a:p>
            <a:pPr>
              <a:spcAft>
                <a:spcPts val="1100"/>
              </a:spcAft>
              <a:defRPr sz="3100" b="1">
                <a:solidFill>
                  <a:srgbClr val="0B253F"/>
                </a:solidFill>
                <a:latin typeface="Arial"/>
              </a:defRPr>
            </a:pPr>
            <a:r>
              <a:t>Cadastre uma vez. Agende novamente.</a:t>
            </a:r>
          </a:p>
        </p:txBody>
      </p:sp>
      <p:sp>
        <p:nvSpPr>
          <p:cNvPr id="7" name="TextBox 6"/>
          <p:cNvSpPr txBox="1"/>
          <p:nvPr/>
        </p:nvSpPr>
        <p:spPr>
          <a:xfrm>
            <a:off x="594360" y="2651760"/>
            <a:ext cx="731520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Cidades, endereços, paradas e duração estimada.</a:t>
            </a:r>
          </a:p>
        </p:txBody>
      </p:sp>
      <p:sp>
        <p:nvSpPr>
          <p:cNvPr id="8" name="TextBox 7"/>
          <p:cNvSpPr txBox="1"/>
          <p:nvPr/>
        </p:nvSpPr>
        <p:spPr>
          <a:xfrm>
            <a:off x="640080" y="3520440"/>
            <a:ext cx="731520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UF e cidade para origem e destino.</a:t>
            </a:r>
          </a:p>
          <a:p>
            <a:pPr>
              <a:spcAft>
                <a:spcPts val="1100"/>
              </a:spcAft>
              <a:defRPr sz="1800" b="0">
                <a:solidFill>
                  <a:srgbClr val="0B253F"/>
                </a:solidFill>
                <a:latin typeface="Arial"/>
              </a:defRPr>
            </a:pPr>
            <a:r>
              <a:t>• Paradas ordenadas de embarque, desembarque ou ambos.</a:t>
            </a:r>
          </a:p>
          <a:p>
            <a:pPr>
              <a:spcAft>
                <a:spcPts val="1100"/>
              </a:spcAft>
              <a:defRPr sz="1800" b="0">
                <a:solidFill>
                  <a:srgbClr val="0B253F"/>
                </a:solidFill>
                <a:latin typeface="Arial"/>
              </a:defRPr>
            </a:pPr>
            <a:r>
              <a:t>• Somente ida ou ida e volta, com sugestão de retorno invertido.</a:t>
            </a:r>
          </a:p>
          <a:p>
            <a:pPr>
              <a:spcAft>
                <a:spcPts val="1100"/>
              </a:spcAft>
              <a:defRPr sz="1800" b="0">
                <a:solidFill>
                  <a:srgbClr val="0B253F"/>
                </a:solidFill>
                <a:latin typeface="Arial"/>
              </a:defRPr>
            </a:pPr>
            <a:r>
              <a:t>• Navegação abre o Google Maps externo.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Duração manual. Atualizar uma Rota não altera automaticamente viagens já criadas.</a:t>
            </a:r>
          </a:p>
        </p:txBody>
      </p:sp>
      <p:pic>
        <p:nvPicPr>
          <p:cNvPr id="10" name="Picture 9" descr="rotas-catalogo-desktop.png"/>
          <p:cNvPicPr>
            <a:picLocks noChangeAspect="1"/>
          </p:cNvPicPr>
          <p:nvPr/>
        </p:nvPicPr>
        <p:blipFill>
          <a:blip r:embed="rId2"/>
          <a:stretch>
            <a:fillRect/>
          </a:stretch>
        </p:blipFill>
        <p:spPr>
          <a:xfrm>
            <a:off x="8321040" y="1005840"/>
            <a:ext cx="3200400" cy="22225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08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PACOTES TURÍSTICOS</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Passeios ou destinos em sequência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Dois formatos para simplificar o roteiro.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Passeios: cada dia retorna à mesma cidade-base.</a:t>
            </a:r>
          </a:p>
          <a:p>
            <a:pPr>
              <a:spcAft>
                <a:spcPts val="1100"/>
              </a:spcAft>
              <a:defRPr sz="1800" b="0">
                <a:solidFill>
                  <a:srgbClr val="0B253F"/>
                </a:solidFill>
                <a:latin typeface="Arial"/>
              </a:defRPr>
            </a:pPr>
            <a:r>
              <a:t>• Sequência: várias cidades, com permanência e dias livres.</a:t>
            </a:r>
          </a:p>
          <a:p>
            <a:pPr>
              <a:spcAft>
                <a:spcPts val="1100"/>
              </a:spcAft>
              <a:defRPr sz="1800" b="0">
                <a:solidFill>
                  <a:srgbClr val="0B253F"/>
                </a:solidFill>
                <a:latin typeface="Arial"/>
              </a:defRPr>
            </a:pPr>
            <a:r>
              <a:t>• Modelo com dias relativos; datas reais são definidas na saída.</a:t>
            </a:r>
          </a:p>
          <a:p>
            <a:pPr>
              <a:spcAft>
                <a:spcPts val="1100"/>
              </a:spcAft>
              <a:defRPr sz="1800" b="0">
                <a:solidFill>
                  <a:srgbClr val="0B253F"/>
                </a:solidFill>
                <a:latin typeface="Arial"/>
              </a:defRPr>
            </a:pPr>
            <a:r>
              <a:t>• Venda do pacote completo, com retorno incluído.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Exemplos: Maceió ↔ Maragogi / Gunga; ou Maceió → Fortaleza → Natal → Maceió.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09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SAÍDAS E ALOCAÇÕES</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O modelo vira uma viagem real</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Rota ou pacote + data + horários + veículos + equipe.</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Viagem simples com trecho único ou ida e volta.</a:t>
            </a:r>
          </a:p>
          <a:p>
            <a:pPr>
              <a:spcAft>
                <a:spcPts val="1100"/>
              </a:spcAft>
              <a:defRPr sz="1800" b="0">
                <a:solidFill>
                  <a:srgbClr val="0B253F"/>
                </a:solidFill>
                <a:latin typeface="Arial"/>
              </a:defRPr>
            </a:pPr>
            <a:r>
              <a:t>• Saída de pacote com todas as etapas e chegadas previstas.</a:t>
            </a:r>
          </a:p>
          <a:p>
            <a:pPr>
              <a:spcAft>
                <a:spcPts val="1100"/>
              </a:spcAft>
              <a:defRPr sz="1800" b="0">
                <a:solidFill>
                  <a:srgbClr val="0B253F"/>
                </a:solidFill>
                <a:latin typeface="Arial"/>
              </a:defRPr>
            </a:pPr>
            <a:r>
              <a:t>• Troca de veículo e equipe entre deslocamentos do roteiro.</a:t>
            </a:r>
          </a:p>
          <a:p>
            <a:pPr>
              <a:spcAft>
                <a:spcPts val="1100"/>
              </a:spcAft>
              <a:defRPr sz="1800" b="0">
                <a:solidFill>
                  <a:srgbClr val="0B253F"/>
                </a:solidFill>
                <a:latin typeface="Arial"/>
              </a:defRPr>
            </a:pPr>
            <a:r>
              <a:t>• Filtros de situação, edição protegida, duplicação e cancelamento.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saída preserva sua versão de percurso, preço e capacidade.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10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VENDA E RESERVA FAMILIAR</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A família inteira, com lugar garantido ao salvar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Um responsável, um telefone e vários passageiros.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Menu Vender bilhete, sem abrir o cadastro da viagem.</a:t>
            </a:r>
          </a:p>
          <a:p>
            <a:pPr>
              <a:spcAft>
                <a:spcPts val="1100"/>
              </a:spcAft>
              <a:defRPr sz="1800" b="0">
                <a:solidFill>
                  <a:srgbClr val="0B253F"/>
                </a:solidFill>
                <a:latin typeface="Arial"/>
              </a:defRPr>
            </a:pPr>
            <a:r>
              <a:t>• Disponibilidade por segmento e sugestão de veículo para o grupo.</a:t>
            </a:r>
          </a:p>
          <a:p>
            <a:pPr>
              <a:spcAft>
                <a:spcPts val="1100"/>
              </a:spcAft>
              <a:defRPr sz="1800" b="0">
                <a:solidFill>
                  <a:srgbClr val="0B253F"/>
                </a:solidFill>
                <a:latin typeface="Arial"/>
              </a:defRPr>
            </a:pPr>
            <a:r>
              <a:t>• Bloqueios de 15 minutos, confirmação, cancelamento e realocação.</a:t>
            </a:r>
          </a:p>
          <a:p>
            <a:pPr>
              <a:spcAft>
                <a:spcPts val="1100"/>
              </a:spcAft>
              <a:defRPr sz="1800" b="0">
                <a:solidFill>
                  <a:srgbClr val="0B253F"/>
                </a:solidFill>
                <a:latin typeface="Arial"/>
              </a:defRPr>
            </a:pPr>
            <a:r>
              <a:t>• Hotel ou endereço de embarque disponível para motorista e guia.</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CPF conforme roteiro e exceções; recebimento registrado manualmente como PAGO.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11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BILHETE INDIVIDUAL</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Um passageiro. Um link. Um QR.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O mesmo bilhete em todos os trechos contratados.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Página privada com etapas, pontos, horários e veículos.</a:t>
            </a:r>
          </a:p>
          <a:p>
            <a:pPr>
              <a:spcAft>
                <a:spcPts val="1100"/>
              </a:spcAft>
              <a:defRPr sz="1800" b="0">
                <a:solidFill>
                  <a:srgbClr val="0B253F"/>
                </a:solidFill>
                <a:latin typeface="Arial"/>
              </a:defRPr>
            </a:pPr>
            <a:r>
              <a:t>• Impressão/PDF, download do QR e compartilhamento do link.</a:t>
            </a:r>
          </a:p>
          <a:p>
            <a:pPr>
              <a:spcAft>
                <a:spcPts val="1100"/>
              </a:spcAft>
              <a:defRPr sz="1800" b="0">
                <a:solidFill>
                  <a:srgbClr val="0B253F"/>
                </a:solidFill>
                <a:latin typeface="Arial"/>
              </a:defRPr>
            </a:pPr>
            <a:r>
              <a:t>• Envio do link pelo WhatsApp ao telefone da reserva.</a:t>
            </a:r>
          </a:p>
          <a:p>
            <a:pPr>
              <a:spcAft>
                <a:spcPts val="1100"/>
              </a:spcAft>
              <a:defRPr sz="1800" b="0">
                <a:solidFill>
                  <a:srgbClr val="0B253F"/>
                </a:solidFill>
                <a:latin typeface="Arial"/>
              </a:defRPr>
            </a:pPr>
            <a:r>
              <a:t>• Reemissão e revogação para todos os trechos do passageiro.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leitura identifica o passageiro; o operador confirma o embarque.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12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COMUNICAÇÃO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A informação acompanha o cliente</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WhatsApp e e-mail aproximam sua equipe dos clientes.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Confirmação, cancelamento e registro de pagamento por WhatsApp.</a:t>
            </a:r>
          </a:p>
          <a:p>
            <a:pPr>
              <a:spcAft>
                <a:spcPts val="1100"/>
              </a:spcAft>
              <a:defRPr sz="1800" b="0">
                <a:solidFill>
                  <a:srgbClr val="0B253F"/>
                </a:solidFill>
                <a:latin typeface="Arial"/>
              </a:defRPr>
            </a:pPr>
            <a:r>
              <a:t>• Conversas, respostas e anexos diretamente no painel da empresa.</a:t>
            </a:r>
          </a:p>
          <a:p>
            <a:pPr>
              <a:spcAft>
                <a:spcPts val="1100"/>
              </a:spcAft>
              <a:defRPr sz="1800" b="0">
                <a:solidFill>
                  <a:srgbClr val="0B253F"/>
                </a:solidFill>
                <a:latin typeface="Arial"/>
              </a:defRPr>
            </a:pPr>
            <a:r>
              <a:t>• Menu numerado personalizado com reserva, veículo e embarque.</a:t>
            </a:r>
          </a:p>
          <a:p>
            <a:pPr>
              <a:spcAft>
                <a:spcPts val="1100"/>
              </a:spcAft>
              <a:defRPr sz="1800" b="0">
                <a:solidFill>
                  <a:srgbClr val="0B253F"/>
                </a:solidFill>
                <a:latin typeface="Arial"/>
              </a:defRPr>
            </a:pPr>
            <a:r>
              <a:t>• Atendimento humano com horários informados e pausa da automação.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administrador conecta o número da empresa por QR Code no próprio painel; cada empresa mantém sua sessão exclusiva.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13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ANDROID OPERACIONAL</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Motorista e guia com os mesmos recursos</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A viagem na mão de quem executa a operação.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Viagens atribuídas e agenda dos próximos sete dias.</a:t>
            </a:r>
          </a:p>
          <a:p>
            <a:pPr>
              <a:spcAft>
                <a:spcPts val="1100"/>
              </a:spcAft>
              <a:defRPr sz="1800" b="0">
                <a:solidFill>
                  <a:srgbClr val="0B253F"/>
                </a:solidFill>
                <a:latin typeface="Arial"/>
              </a:defRPr>
            </a:pPr>
            <a:r>
              <a:t>• QR pela câmera, lista e filtros de passageiros.</a:t>
            </a:r>
          </a:p>
          <a:p>
            <a:pPr>
              <a:spcAft>
                <a:spcPts val="1100"/>
              </a:spcAft>
              <a:defRPr sz="1800" b="0">
                <a:solidFill>
                  <a:srgbClr val="0B253F"/>
                </a:solidFill>
                <a:latin typeface="Arial"/>
              </a:defRPr>
            </a:pPr>
            <a:r>
              <a:t>• Iniciar viagem, desembarcar todos e registrar chegada.</a:t>
            </a:r>
          </a:p>
          <a:p>
            <a:pPr>
              <a:spcAft>
                <a:spcPts val="1100"/>
              </a:spcAft>
              <a:defRPr sz="1800" b="0">
                <a:solidFill>
                  <a:srgbClr val="0B253F"/>
                </a:solidFill>
                <a:latin typeface="Arial"/>
              </a:defRPr>
            </a:pPr>
            <a:r>
              <a:t>• Login biométrico opcional em aparelhos compatíveis.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APK por empresa; no perfil operacional, guia não é obrigatório.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14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OPERAÇÃO COM CONEXÃO INTERMITENTE</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Prepare online. Registre. Sincronize.</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Lista de passageiros disponível durante o percurso.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Prepare a lista do veículo antes de sair.</a:t>
            </a:r>
          </a:p>
          <a:p>
            <a:pPr>
              <a:spcAft>
                <a:spcPts val="1100"/>
              </a:spcAft>
              <a:defRPr sz="1800" b="0">
                <a:solidFill>
                  <a:srgbClr val="0B253F"/>
                </a:solidFill>
                <a:latin typeface="Arial"/>
              </a:defRPr>
            </a:pPr>
            <a:r>
              <a:t>• Registre embarques e desembarques mesmo sem conexão.</a:t>
            </a:r>
          </a:p>
          <a:p>
            <a:pPr>
              <a:spcAft>
                <a:spcPts val="1100"/>
              </a:spcAft>
              <a:defRPr sz="1800" b="0">
                <a:solidFill>
                  <a:srgbClr val="0B253F"/>
                </a:solidFill>
                <a:latin typeface="Arial"/>
              </a:defRPr>
            </a:pPr>
            <a:r>
              <a:t>• Sincronize os registros ao recuperar a internet.</a:t>
            </a:r>
          </a:p>
          <a:p>
            <a:pPr>
              <a:spcAft>
                <a:spcPts val="1100"/>
              </a:spcAft>
              <a:defRPr sz="1800" b="0">
                <a:solidFill>
                  <a:srgbClr val="0B253F"/>
                </a:solidFill>
                <a:latin typeface="Arial"/>
              </a:defRPr>
            </a:pPr>
            <a:r>
              <a:t>• Inicie e finalize o deslocamento com conexão disponível.</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Dados locais pendentes não equivalem a confirmação no sistema.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15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CHEGADA E HISTÓRICO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Da saída ao destino, com registro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Finalização consultável por veículo e trecho.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Saída, chegada, responsável e horários registrados.</a:t>
            </a:r>
          </a:p>
          <a:p>
            <a:pPr>
              <a:spcAft>
                <a:spcPts val="1100"/>
              </a:spcAft>
              <a:defRPr sz="1800" b="0">
                <a:solidFill>
                  <a:srgbClr val="0B253F"/>
                </a:solidFill>
                <a:latin typeface="Arial"/>
              </a:defRPr>
            </a:pPr>
            <a:r>
              <a:t>• GPS pontual: coordenadas, precisão e horário da captura.</a:t>
            </a:r>
          </a:p>
          <a:p>
            <a:pPr>
              <a:spcAft>
                <a:spcPts val="1100"/>
              </a:spcAft>
              <a:defRPr sz="1800" b="0">
                <a:solidFill>
                  <a:srgbClr val="0B253F"/>
                </a:solidFill>
                <a:latin typeface="Arial"/>
              </a:defRPr>
            </a:pPr>
            <a:r>
              <a:t>• Link para consultar o ponto da chegada no Maps.</a:t>
            </a:r>
          </a:p>
          <a:p>
            <a:pPr>
              <a:spcAft>
                <a:spcPts val="1100"/>
              </a:spcAft>
              <a:defRPr sz="1800" b="0">
                <a:solidFill>
                  <a:srgbClr val="0B253F"/>
                </a:solidFill>
                <a:latin typeface="Arial"/>
              </a:defRPr>
            </a:pPr>
            <a:r>
              <a:t>• Conclusão geral após todos os veículos e etapas previstos.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registro da chegada fica disponível nos detalhes da viagem.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16 / 26</a:t>
            </a:r>
          </a:p>
        </p:txBody>
      </p:sp>
      <p:sp>
        <p:nvSpPr>
          <p:cNvPr id="5" name="TextBox 4"/>
          <p:cNvSpPr txBox="1"/>
          <p:nvPr/>
        </p:nvSpPr>
        <p:spPr>
          <a:xfrm>
            <a:off x="594360" y="914400"/>
            <a:ext cx="731520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VISÃO GERENCIAL</a:t>
            </a:r>
          </a:p>
        </p:txBody>
      </p:sp>
      <p:sp>
        <p:nvSpPr>
          <p:cNvPr id="6" name="TextBox 5"/>
          <p:cNvSpPr txBox="1"/>
          <p:nvPr/>
        </p:nvSpPr>
        <p:spPr>
          <a:xfrm>
            <a:off x="594360" y="1389888"/>
            <a:ext cx="7315200" cy="1170432"/>
          </a:xfrm>
          <a:prstGeom prst="rect">
            <a:avLst/>
          </a:prstGeom>
          <a:noFill/>
        </p:spPr>
        <p:txBody>
          <a:bodyPr wrap="square" lIns="18288" rIns="18288" tIns="18288" bIns="18288">
            <a:spAutoFit/>
          </a:bodyPr>
          <a:lstStyle/>
          <a:p>
            <a:pPr>
              <a:spcAft>
                <a:spcPts val="1100"/>
              </a:spcAft>
              <a:defRPr sz="3100" b="1">
                <a:solidFill>
                  <a:srgbClr val="0B253F"/>
                </a:solidFill>
                <a:latin typeface="Arial"/>
              </a:defRPr>
            </a:pPr>
            <a:r>
              <a:t>Indicadores para conduzir a operação</a:t>
            </a:r>
          </a:p>
        </p:txBody>
      </p:sp>
      <p:sp>
        <p:nvSpPr>
          <p:cNvPr id="7" name="TextBox 6"/>
          <p:cNvSpPr txBox="1"/>
          <p:nvPr/>
        </p:nvSpPr>
        <p:spPr>
          <a:xfrm>
            <a:off x="594360" y="2651760"/>
            <a:ext cx="731520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Período, situação, veículo e viagem em uma visão integrada.</a:t>
            </a:r>
          </a:p>
        </p:txBody>
      </p:sp>
      <p:sp>
        <p:nvSpPr>
          <p:cNvPr id="8" name="TextBox 7"/>
          <p:cNvSpPr txBox="1"/>
          <p:nvPr/>
        </p:nvSpPr>
        <p:spPr>
          <a:xfrm>
            <a:off x="640080" y="3520440"/>
            <a:ext cx="731520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Deslocamentos diários e viagens comerciais iniciadas.</a:t>
            </a:r>
          </a:p>
          <a:p>
            <a:pPr>
              <a:spcAft>
                <a:spcPts val="1100"/>
              </a:spcAft>
              <a:defRPr sz="1800" b="0">
                <a:solidFill>
                  <a:srgbClr val="0B253F"/>
                </a:solidFill>
                <a:latin typeface="Arial"/>
              </a:defRPr>
            </a:pPr>
            <a:r>
              <a:t>• Ocupação máxima confirmada por veículo/deslocamento.</a:t>
            </a:r>
          </a:p>
          <a:p>
            <a:pPr>
              <a:spcAft>
                <a:spcPts val="1100"/>
              </a:spcAft>
              <a:defRPr sz="1800" b="0">
                <a:solidFill>
                  <a:srgbClr val="0B253F"/>
                </a:solidFill>
                <a:latin typeface="Arial"/>
              </a:defRPr>
            </a:pPr>
            <a:r>
              <a:t>• Valores confirmados, PAGO, ticket médio e produtos vendidos.</a:t>
            </a:r>
          </a:p>
          <a:p>
            <a:pPr>
              <a:spcAft>
                <a:spcPts val="1100"/>
              </a:spcAft>
              <a:defRPr sz="1800" b="0">
                <a:solidFill>
                  <a:srgbClr val="0B253F"/>
                </a:solidFill>
                <a:latin typeface="Arial"/>
              </a:defRPr>
            </a:pPr>
            <a:r>
              <a:t>• Baixa ocupação, presença, franquia e exportação CSV.</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Valores nominais e marcação manual; não representam conciliação bancária, fluxo de caixa ou lucro.</a:t>
            </a:r>
          </a:p>
        </p:txBody>
      </p:sp>
      <p:pic>
        <p:nvPicPr>
          <p:cNvPr id="10" name="Picture 9" descr="visao-gerencial-desktop.png"/>
          <p:cNvPicPr>
            <a:picLocks noChangeAspect="1"/>
          </p:cNvPicPr>
          <p:nvPr/>
        </p:nvPicPr>
        <p:blipFill>
          <a:blip r:embed="rId2"/>
          <a:stretch>
            <a:fillRect/>
          </a:stretch>
        </p:blipFill>
        <p:spPr>
          <a:xfrm>
            <a:off x="8514701" y="1005840"/>
            <a:ext cx="2813076" cy="47548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17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ADMINISTRAÇÃO DA PLATAFORMA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Nexus no controle do SaaS</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Empresas, planos e assinaturas em um só painel.</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Basic, Professional, Enterprise e planos adicionais configuráveis.</a:t>
            </a:r>
          </a:p>
          <a:p>
            <a:pPr>
              <a:spcAft>
                <a:spcPts val="1100"/>
              </a:spcAft>
              <a:defRPr sz="1800" b="0">
                <a:solidFill>
                  <a:srgbClr val="0B253F"/>
                </a:solidFill>
                <a:latin typeface="Arial"/>
              </a:defRPr>
            </a:pPr>
            <a:r>
              <a:t>• Teste inicial, setup separado e mensalidade após cada ciclo de 30 dias, com confirmação automática por link.</a:t>
            </a:r>
          </a:p>
          <a:p>
            <a:pPr>
              <a:spcAft>
                <a:spcPts val="1100"/>
              </a:spcAft>
              <a:defRPr sz="1800" b="0">
                <a:solidFill>
                  <a:srgbClr val="0B253F"/>
                </a:solidFill>
                <a:latin typeface="Arial"/>
              </a:defRPr>
            </a:pPr>
            <a:r>
              <a:t>• Uma viagem simples = uma unidade; pacote = destinos comerciais.</a:t>
            </a:r>
          </a:p>
          <a:p>
            <a:pPr>
              <a:spcAft>
                <a:spcPts val="1100"/>
              </a:spcAft>
              <a:defRPr sz="1800" b="0">
                <a:solidFill>
                  <a:srgbClr val="0B253F"/>
                </a:solidFill>
                <a:latin typeface="Arial"/>
              </a:defRPr>
            </a:pPr>
            <a:r>
              <a:t>• Cancelamento estorna o consumo no ciclo original.</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Quatro destinos = quatro unidades, sem acréscimo por retorno, paradas ou quantidade de veículos.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18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PRIMEIRA OPERAÇÃO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Comece por uma saída completa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Um roteiro simples para colocar a equipe em funcionamento.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1 · Empresa, plano, equipe e veículo cadastrados.</a:t>
            </a:r>
          </a:p>
          <a:p>
            <a:pPr>
              <a:spcAft>
                <a:spcPts val="1100"/>
              </a:spcAft>
              <a:defRPr sz="1800" b="0">
                <a:solidFill>
                  <a:srgbClr val="0B253F"/>
                </a:solidFill>
                <a:latin typeface="Arial"/>
              </a:defRPr>
            </a:pPr>
            <a:r>
              <a:t>• 2 · Rota criada e viagem agendada com equipe atribuída.</a:t>
            </a:r>
          </a:p>
          <a:p>
            <a:pPr>
              <a:spcAft>
                <a:spcPts val="1100"/>
              </a:spcAft>
              <a:defRPr sz="1800" b="0">
                <a:solidFill>
                  <a:srgbClr val="0B253F"/>
                </a:solidFill>
                <a:latin typeface="Arial"/>
              </a:defRPr>
            </a:pPr>
            <a:r>
              <a:t>• 3 · Reserva confirmada, PAGO conferido e bilhete enviado.</a:t>
            </a:r>
          </a:p>
          <a:p>
            <a:pPr>
              <a:spcAft>
                <a:spcPts val="1100"/>
              </a:spcAft>
              <a:defRPr sz="1800" b="0">
                <a:solidFill>
                  <a:srgbClr val="0B253F"/>
                </a:solidFill>
                <a:latin typeface="Arial"/>
              </a:defRPr>
            </a:pPr>
            <a:r>
              <a:t>• 4 · Manifesto preparado, embarque realizado e chegada registrada.</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manual traz instruções por perfil, exemplos, checklists e solução de problemas.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19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VALOR PARA SUA EMPRESA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Mais organização em cada etapa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Da preparação do roteiro à análise dos resultados.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Reutilize rotas e pacotes para organizar novas saídas.</a:t>
            </a:r>
          </a:p>
          <a:p>
            <a:pPr>
              <a:spcAft>
                <a:spcPts val="1100"/>
              </a:spcAft>
              <a:defRPr sz="1800" b="0">
                <a:solidFill>
                  <a:srgbClr val="0B253F"/>
                </a:solidFill>
                <a:latin typeface="Arial"/>
              </a:defRPr>
            </a:pPr>
            <a:r>
              <a:t>• Centralize passageiros, reservas e disponibilidade de lugares.</a:t>
            </a:r>
          </a:p>
          <a:p>
            <a:pPr>
              <a:spcAft>
                <a:spcPts val="1100"/>
              </a:spcAft>
              <a:defRPr sz="1800" b="0">
                <a:solidFill>
                  <a:srgbClr val="0B253F"/>
                </a:solidFill>
                <a:latin typeface="Arial"/>
              </a:defRPr>
            </a:pPr>
            <a:r>
              <a:t>• Conecte atendimento, motorista e guia na mesma operação.</a:t>
            </a:r>
          </a:p>
          <a:p>
            <a:pPr>
              <a:spcAft>
                <a:spcPts val="1100"/>
              </a:spcAft>
              <a:defRPr sz="1800" b="0">
                <a:solidFill>
                  <a:srgbClr val="0B253F"/>
                </a:solidFill>
                <a:latin typeface="Arial"/>
              </a:defRPr>
            </a:pPr>
            <a:r>
              <a:t>• Acompanhe ocupação, vendas e execução das viagens.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Uma visão compartilhada para tomar decisões com mais clareza.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20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ATENDIMENTO MAIS ÁGIL</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O passageiro pergunta.</a:t>
            </a:r>
          </a:p>
          <a:p>
            <a:pPr>
              <a:spcAft>
                <a:spcPts val="1100"/>
              </a:spcAft>
              <a:defRPr sz="3600" b="1">
                <a:solidFill>
                  <a:srgbClr val="0B253F"/>
                </a:solidFill>
                <a:latin typeface="Arial"/>
              </a:defRPr>
            </a:pPr>
            <a:r>
              <a:t>A empresa acompanha.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Informações úteis no próprio WhatsApp.</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Qualquer texto abre um menu com saudação personalizada.</a:t>
            </a:r>
          </a:p>
          <a:p>
            <a:pPr>
              <a:spcAft>
                <a:spcPts val="1100"/>
              </a:spcAft>
              <a:defRPr sz="1800" b="0">
                <a:solidFill>
                  <a:srgbClr val="0B253F"/>
                </a:solidFill>
                <a:latin typeface="Arial"/>
              </a:defRPr>
            </a:pPr>
            <a:r>
              <a:t>• O passageiro consulta seus bilhetes, reserva, veículo e embarque.</a:t>
            </a:r>
          </a:p>
          <a:p>
            <a:pPr>
              <a:spcAft>
                <a:spcPts val="1100"/>
              </a:spcAft>
              <a:defRPr sz="1800" b="0">
                <a:solidFill>
                  <a:srgbClr val="0B253F"/>
                </a:solidFill>
                <a:latin typeface="Arial"/>
              </a:defRPr>
            </a:pPr>
            <a:r>
              <a:t>• A equipe assume a conversa quando necessário.</a:t>
            </a:r>
          </a:p>
          <a:p>
            <a:pPr>
              <a:spcAft>
                <a:spcPts val="1100"/>
              </a:spcAft>
              <a:defRPr sz="1800" b="0">
                <a:solidFill>
                  <a:srgbClr val="0B253F"/>
                </a:solidFill>
                <a:latin typeface="Arial"/>
              </a:defRPr>
            </a:pPr>
            <a:r>
              <a:t>• O atendimento automático encerra após um minuto de inatividade.</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consulta utiliza o telefone vinculado à reserva.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21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BILHETE NA HORA DE VIAJAR</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Envio antecipado,</a:t>
            </a:r>
          </a:p>
          <a:p>
            <a:pPr>
              <a:spcAft>
                <a:spcPts val="1100"/>
              </a:spcAft>
              <a:defRPr sz="3600" b="1">
                <a:solidFill>
                  <a:srgbClr val="0B253F"/>
                </a:solidFill>
                <a:latin typeface="Arial"/>
              </a:defRPr>
            </a:pPr>
            <a:r>
              <a:t>com acompanhamento.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Ative o envio automático antes do primeiro embarque.</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Reservas confirmadas entram na fila até 24 horas antes.</a:t>
            </a:r>
          </a:p>
          <a:p>
            <a:pPr>
              <a:spcAft>
                <a:spcPts val="1100"/>
              </a:spcAft>
              <a:defRPr sz="1800" b="0">
                <a:solidFill>
                  <a:srgbClr val="0B253F"/>
                </a:solidFill>
                <a:latin typeface="Arial"/>
              </a:defRPr>
            </a:pPr>
            <a:r>
              <a:t>• Um bilhete por passageiro, válido para todos os trechos contratados.</a:t>
            </a:r>
          </a:p>
          <a:p>
            <a:pPr>
              <a:spcAft>
                <a:spcPts val="1100"/>
              </a:spcAft>
              <a:defRPr sz="1800" b="0">
                <a:solidFill>
                  <a:srgbClr val="0B253F"/>
                </a:solidFill>
                <a:latin typeface="Arial"/>
              </a:defRPr>
            </a:pPr>
            <a:r>
              <a:t>• Intervalo mínimo de três minutos entre os envios automáticos.</a:t>
            </a:r>
          </a:p>
          <a:p>
            <a:pPr>
              <a:spcAft>
                <a:spcPts val="1100"/>
              </a:spcAft>
              <a:defRPr sz="1800" b="0">
                <a:solidFill>
                  <a:srgbClr val="0B253F"/>
                </a:solidFill>
                <a:latin typeface="Arial"/>
              </a:defRPr>
            </a:pPr>
            <a:r>
              <a:t>• O envio manual permanece disponível para o atendimento.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entrada na fila não garante o horário exato de entrega; acompanhe os envios.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22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VISIBILIDADE DA OPERAÇÃO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Acompanhe o veículo.</a:t>
            </a:r>
          </a:p>
          <a:p>
            <a:pPr>
              <a:spcAft>
                <a:spcPts val="1100"/>
              </a:spcAft>
              <a:defRPr sz="3600" b="1">
                <a:solidFill>
                  <a:srgbClr val="0B253F"/>
                </a:solidFill>
                <a:latin typeface="Arial"/>
              </a:defRPr>
            </a:pPr>
            <a:r>
              <a:t>Oriente o passageiro.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Rastreamento e avisos configuráveis pela empresa.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Posições do celular responsável coletadas a cada cinco minutos.</a:t>
            </a:r>
          </a:p>
          <a:p>
            <a:pPr>
              <a:spcAft>
                <a:spcPts val="1100"/>
              </a:spcAft>
              <a:defRPr sz="1800" b="0">
                <a:solidFill>
                  <a:srgbClr val="0B253F"/>
                </a:solidFill>
                <a:latin typeface="Arial"/>
              </a:defRPr>
            </a:pPr>
            <a:r>
              <a:t>• Mapa com última posição e trilha das amostras durante o trecho.</a:t>
            </a:r>
          </a:p>
          <a:p>
            <a:pPr>
              <a:spcAft>
                <a:spcPts val="1100"/>
              </a:spcAft>
              <a:defRPr sz="1800" b="0">
                <a:solidFill>
                  <a:srgbClr val="0B253F"/>
                </a:solidFill>
                <a:latin typeface="Arial"/>
              </a:defRPr>
            </a:pPr>
            <a:r>
              <a:t>• Aviso de proximidade para embarques confirmados no mapa.</a:t>
            </a:r>
          </a:p>
          <a:p>
            <a:pPr>
              <a:spcAft>
                <a:spcPts val="1100"/>
              </a:spcAft>
              <a:defRPr sz="1800" b="0">
                <a:solidFill>
                  <a:srgbClr val="0B253F"/>
                </a:solidFill>
                <a:latin typeface="Arial"/>
              </a:defRPr>
            </a:pPr>
            <a:r>
              <a:t>• Lembrete de saída na ida e na volta pelo WhatsApp.</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Localização aproximada; depende de conexão, GPS e permissões.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23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GESTÃO DA ASSINATURA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Condições claras,</a:t>
            </a:r>
          </a:p>
          <a:p>
            <a:pPr>
              <a:spcAft>
                <a:spcPts val="1100"/>
              </a:spcAft>
              <a:defRPr sz="3600" b="1">
                <a:solidFill>
                  <a:srgbClr val="0B253F"/>
                </a:solidFill>
                <a:latin typeface="Arial"/>
              </a:defRPr>
            </a:pPr>
            <a:r>
              <a:t>pagamento acompanhado.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Contrato, valores e vencimentos no mesmo ambiente.</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Leitura e download do contrato antes do aceite por confirmação de e-mail.</a:t>
            </a:r>
          </a:p>
          <a:p>
            <a:pPr>
              <a:spcAft>
                <a:spcPts val="1100"/>
              </a:spcAft>
              <a:defRPr sz="1800" b="0">
                <a:solidFill>
                  <a:srgbClr val="0B253F"/>
                </a:solidFill>
                <a:latin typeface="Arial"/>
              </a:defRPr>
            </a:pPr>
            <a:r>
              <a:t>• Plano e valores preservados no documento; mudanças exigem novo aceite.</a:t>
            </a:r>
          </a:p>
          <a:p>
            <a:pPr>
              <a:spcAft>
                <a:spcPts val="1100"/>
              </a:spcAft>
              <a:defRPr sz="1800" b="0">
                <a:solidFill>
                  <a:srgbClr val="0B253F"/>
                </a:solidFill>
                <a:latin typeface="Arial"/>
              </a:defRPr>
            </a:pPr>
            <a:r>
              <a:t>• Financeiro com valor previsto, próximo vencimento e situação.</a:t>
            </a:r>
          </a:p>
          <a:p>
            <a:pPr>
              <a:spcAft>
                <a:spcPts val="1100"/>
              </a:spcAft>
              <a:defRPr sz="1800" b="0">
                <a:solidFill>
                  <a:srgbClr val="0B253F"/>
                </a:solidFill>
                <a:latin typeface="Arial"/>
              </a:defRPr>
            </a:pPr>
            <a:r>
              <a:t>• Link de pagamento e confirmação automática após aprovação.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setup é separado; a mensalidade é cobrada ao final do ciclo de 30 dias.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24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COMPATÍVEL COM SUA OPERAÇÃO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Use o sistema completo</a:t>
            </a:r>
          </a:p>
          <a:p>
            <a:pPr>
              <a:spcAft>
                <a:spcPts val="1100"/>
              </a:spcAft>
              <a:defRPr sz="3600" b="1">
                <a:solidFill>
                  <a:srgbClr val="0B253F"/>
                </a:solidFill>
                <a:latin typeface="Arial"/>
              </a:defRPr>
            </a:pPr>
            <a:r>
              <a:t>ou integre ao seu app.</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Módulos adequados ao que a empresa precisa.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WhatsApp e bilhetes podem complementar um sistema de vendas parceiro.</a:t>
            </a:r>
          </a:p>
          <a:p>
            <a:pPr>
              <a:spcAft>
                <a:spcPts val="1100"/>
              </a:spcAft>
              <a:defRPr sz="1800" b="0">
                <a:solidFill>
                  <a:srgbClr val="0B253F"/>
                </a:solidFill>
                <a:latin typeface="Arial"/>
              </a:defRPr>
            </a:pPr>
            <a:r>
              <a:t>• Dados sincronizados apoiam a comunicação e a operação da viagem.</a:t>
            </a:r>
          </a:p>
          <a:p>
            <a:pPr>
              <a:spcAft>
                <a:spcPts val="1100"/>
              </a:spcAft>
              <a:defRPr sz="1800" b="0">
                <a:solidFill>
                  <a:srgbClr val="0B253F"/>
                </a:solidFill>
                <a:latin typeface="Arial"/>
              </a:defRPr>
            </a:pPr>
            <a:r>
              <a:t>• Motorista e guia registram embarque e desembarque no Android.</a:t>
            </a:r>
          </a:p>
          <a:p>
            <a:pPr>
              <a:spcAft>
                <a:spcPts val="1100"/>
              </a:spcAft>
              <a:defRPr sz="1800" b="0">
                <a:solidFill>
                  <a:srgbClr val="0B253F"/>
                </a:solidFill>
                <a:latin typeface="Arial"/>
              </a:defRPr>
            </a:pPr>
            <a:r>
              <a:t>• Permissões por empresa e credenciais de integração controladas.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conjunto de módulos depende da configuração da empresa.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25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 VOZ DO CLIENTE</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Ouça. Meça.</a:t>
            </a:r>
          </a:p>
          <a:p>
            <a:pPr>
              <a:spcAft>
                <a:spcPts val="1100"/>
              </a:spcAft>
              <a:defRPr sz="3600" b="1">
                <a:solidFill>
                  <a:srgbClr val="0B253F"/>
                </a:solidFill>
                <a:latin typeface="Arial"/>
              </a:defRPr>
            </a:pPr>
            <a:r>
              <a:t>Melhore a experiência.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NPS integrado ao atendimento e às viagens.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Pesquisa pelo WhatsApp após atendimento humano e viagem concluída.</a:t>
            </a:r>
          </a:p>
          <a:p>
            <a:pPr>
              <a:spcAft>
                <a:spcPts val="1100"/>
              </a:spcAft>
              <a:defRPr sz="1800" b="0">
                <a:solidFill>
                  <a:srgbClr val="0B253F"/>
                </a:solidFill>
                <a:latin typeface="Arial"/>
              </a:defRPr>
            </a:pPr>
            <a:r>
              <a:t>• Respostas acolhedoras conforme a nota e espaço para sugestões.</a:t>
            </a:r>
          </a:p>
          <a:p>
            <a:pPr>
              <a:spcAft>
                <a:spcPts val="1100"/>
              </a:spcAft>
              <a:defRPr sz="1800" b="0">
                <a:solidFill>
                  <a:srgbClr val="0B253F"/>
                </a:solidFill>
                <a:latin typeface="Arial"/>
              </a:defRPr>
            </a:pPr>
            <a:r>
              <a:t>• Indicadores de satisfação, promotores, neutros e detratores.</a:t>
            </a:r>
          </a:p>
          <a:p>
            <a:pPr>
              <a:spcAft>
                <a:spcPts val="1100"/>
              </a:spcAft>
              <a:defRPr sz="1800" b="0">
                <a:solidFill>
                  <a:srgbClr val="0B253F"/>
                </a:solidFill>
                <a:latin typeface="Arial"/>
              </a:defRPr>
            </a:pPr>
            <a:r>
              <a:t>• Filtros por período e viagem, com relatórios CSV e PDF.</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Pesquisas habilitadas pelo administrador; cada avaliação pertence à empresa.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253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FFFFF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FFFFFF"/>
                </a:solidFill>
                <a:latin typeface="Arial"/>
              </a:defRPr>
            </a:pPr>
            <a:r>
              <a:t>26 / 26</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54D6CB"/>
                </a:solidFill>
                <a:latin typeface="Arial"/>
              </a:defRPr>
            </a:pPr>
            <a:r>
              <a:t>NEXUS ROTAFY</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FFFFFF"/>
                </a:solidFill>
                <a:latin typeface="Arial"/>
              </a:defRPr>
            </a:pPr>
            <a:r>
              <a:t>Uma operação mais tranquila,</a:t>
            </a:r>
          </a:p>
          <a:p>
            <a:pPr>
              <a:spcAft>
                <a:spcPts val="1100"/>
              </a:spcAft>
              <a:defRPr sz="3600" b="1">
                <a:solidFill>
                  <a:srgbClr val="FFFFFF"/>
                </a:solidFill>
                <a:latin typeface="Arial"/>
              </a:defRPr>
            </a:pPr>
            <a:r>
              <a:t>a cada viagem.</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C3E4EA"/>
                </a:solidFill>
                <a:latin typeface="Arial"/>
              </a:defRPr>
            </a:pPr>
            <a:r>
              <a:t>Planejamento, atendimento e equipe conectados.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FFFFFF"/>
                </a:solidFill>
                <a:latin typeface="Arial"/>
              </a:defRPr>
            </a:pPr>
            <a:r>
              <a:t>• Conheça o sistema: rotafy.nexusdataanalytics.tech</a:t>
            </a:r>
          </a:p>
          <a:p>
            <a:pPr>
              <a:spcAft>
                <a:spcPts val="1100"/>
              </a:spcAft>
              <a:defRPr sz="1800" b="0">
                <a:solidFill>
                  <a:srgbClr val="FFFFFF"/>
                </a:solidFill>
                <a:latin typeface="Arial"/>
              </a:defRPr>
            </a:pPr>
            <a:r>
              <a:t>• Manual e downloads: /ajuda</a:t>
            </a:r>
          </a:p>
          <a:p>
            <a:pPr>
              <a:spcAft>
                <a:spcPts val="1100"/>
              </a:spcAft>
              <a:defRPr sz="1800" b="0">
                <a:solidFill>
                  <a:srgbClr val="FFFFFF"/>
                </a:solidFill>
                <a:latin typeface="Arial"/>
              </a:defRPr>
            </a:pPr>
            <a:r>
              <a:t>• Central com HTML, PDF e apresentação editável</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C3E4EA"/>
                </a:solidFill>
                <a:latin typeface="Arial"/>
              </a:defRPr>
            </a:pPr>
            <a:r>
              <a:t>Nexus Data Analytics · Edição 2026.10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Nexus Rotafy — apresentação do sistema</dc:title>
  <dc:subject>Funcionalidades e funcionamento · edição 2026.10</dc:subject>
  <dc:creator>Nexus Data Analytics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